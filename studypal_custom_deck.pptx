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400">
                <a:solidFill>
                  <a:srgbClr val="FFFFFF"/>
                </a:solidFill>
              </a:defRPr>
            </a:pPr>
            <a:r>
              <a:t>StudyPal</a:t>
            </a:r>
          </a:p>
          <a:p>
            <a:pPr algn="ctr">
              <a:defRPr sz="2400">
                <a:solidFill>
                  <a:srgbClr val="3B82F6"/>
                </a:solidFill>
              </a:defRPr>
            </a:pPr>
            <a:r>
              <a:t>The AI-Native Learning Operating System for Neurodivergent Minds.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0B0"/>
                </a:solidFill>
              </a:defRPr>
            </a:pPr>
            <a:r>
              <a:t>Next.js · FastAPI · PostgreSQL · qwen2.5:7b · gemma4:e2b · nomic-embed-text · duckduckgo · Vocal 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THE ACCESSIBILITY GAP IN MODERN LEARNING</a:t>
            </a:r>
          </a:p>
          <a:p>
            <a:pPr>
              <a:defRPr sz="1800">
                <a:solidFill>
                  <a:srgbClr val="A0A0B0"/>
                </a:solidFill>
              </a:defRPr>
            </a:pPr>
            <a:r>
              <a:t>Traditional education systems create severe barriers for learners with ADHD, dyslexia, and learning differences.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5720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74520"/>
            <a:ext cx="42976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1. The Pacing &amp; Overload Trap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Standard classrooms move too fast, triggering executive dysfunction and cognitive fatigue. Textbooks fail to accommodate visual/auditory processing styles.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2552" y="1828800"/>
            <a:ext cx="45720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9712" y="1874520"/>
            <a:ext cx="42976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2. The Dependency &amp; Financial Barrier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Accessing specialized help like TAs, remedial classes, or private tutors is highly expensive, time-restricted, and hard to coordinate.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45720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60520"/>
            <a:ext cx="42976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3. The Learning Anxiety Loop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Fear of judgment or admitting confusion in front of peers often stops students from asking repeated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2552" y="4114800"/>
            <a:ext cx="45720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4160520"/>
            <a:ext cx="42976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4. Lack of Active Engagement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Passive reading or listening fails to keep learners with ADHD engaged, leading to distraction and loss of interest.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ARCHITECTURE: CONVERSATIONAL ENGINE</a:t>
            </a:r>
          </a:p>
          <a:p>
            <a:pPr>
              <a:defRPr sz="1800">
                <a:solidFill>
                  <a:srgbClr val="A0A0B0"/>
                </a:solidFill>
              </a:defRPr>
            </a:pPr>
            <a:r>
              <a:t>A robust orchestrated backend powering the Chat &amp; Tutor Bot.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0152" cy="10972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74520"/>
            <a:ext cx="10085832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Entry Points (Frontend &amp; API)</a:t>
            </a:r>
          </a:p>
          <a:p>
            <a:pPr algn="ctr"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Next.js UI Workspace  |  CLI (Typer)  |  WebSocket (/api/v1/ws)  |  Python SDK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200400"/>
            <a:ext cx="4873752" cy="914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3246120"/>
            <a:ext cx="4599432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b="1" sz="1600">
                <a:solidFill>
                  <a:srgbClr val="3B82F6"/>
                </a:solidFill>
              </a:defRPr>
            </a:pPr>
            <a:r>
              <a:t>Unified Orchestrator</a:t>
            </a:r>
          </a:p>
          <a:p>
            <a:pPr algn="ctr"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Intelligently routes conversational traffic to standard tools or multi-step capability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4572000" cy="13716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617720"/>
            <a:ext cx="42976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Level 2: Capabilities (The Brain)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Multi-step agent pipelines taking over conversations.</a:t>
            </a:r>
            <a:br/>
            <a:r>
              <a:t>e.g., deepsolve (plan -&gt; reason -&gt; write)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2552" y="4572000"/>
            <a:ext cx="4572000" cy="13716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4617720"/>
            <a:ext cx="42976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Level 1: Tools (The Muscle)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Lightweight, single-function tools called dynamically by the LLM.</a:t>
            </a:r>
            <a:br/>
            <a:r>
              <a:t>e.g., rag, web_search, code_execution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ARCHITECTURE: COPILOT WORKSPACE</a:t>
            </a:r>
          </a:p>
          <a:p>
            <a:pPr>
              <a:defRPr sz="1800">
                <a:solidFill>
                  <a:srgbClr val="A0A0B0"/>
                </a:solidFill>
              </a:defRPr>
            </a:pPr>
            <a:r>
              <a:t>Seamlessly integrating AI into UI tools like the Study Planner.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47472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32004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1. CopilotKit Provider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Wraps the Next.js frontend, managing real-time chat state and LLM connectivity (gemma4:e2b / Copilot Model) across all active workspaces.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2286000"/>
            <a:ext cx="347472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9704" y="2331720"/>
            <a:ext cx="32004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2. Readable State (useCopilotReadable)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Instantly exposes the student's active workspace state (e.g., current planner schedule, whiteboard canvas) directly into the AI's conversational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7031" y="2286000"/>
            <a:ext cx="347472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1" y="2331720"/>
            <a:ext cx="32004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3. Executable Actions (useCopilotAction)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Allows the AI to programmatically modify the UI (e.g., automatically adding study blocks to the calendar or drafting notes in the Co-Writer).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CAPABILITIES &amp; LEVEL 1 TOOLS</a:t>
            </a:r>
          </a:p>
          <a:p>
            <a:pPr>
              <a:defRPr sz="1800">
                <a:solidFill>
                  <a:srgbClr val="A0A0B0"/>
                </a:solidFill>
              </a:defRPr>
            </a:pPr>
            <a:r>
              <a:t>The intelligent services empowering the custom Socratic Tutor Bot.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8B5CF6"/>
                </a:solidFill>
              </a:defRPr>
            </a:pPr>
            <a:r>
              <a:t>Multi-Step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4572000" cy="640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4297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8B5CF6"/>
                </a:solidFill>
              </a:defRPr>
            </a:pPr>
            <a:r>
              <a:t>• chat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Tool-augmented conversational tutoring.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08960"/>
            <a:ext cx="4572000" cy="640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4297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8B5CF6"/>
                </a:solidFill>
              </a:defRPr>
            </a:pPr>
            <a:r>
              <a:t>• deepsolve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Multi-stage path planning and reasoning.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4572000" cy="640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886200"/>
            <a:ext cx="4297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8B5CF6"/>
                </a:solidFill>
              </a:defRPr>
            </a:pPr>
            <a:r>
              <a:t>• quiz_generation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Ideation and generation of custom mock exams.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4572000" cy="640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617720"/>
            <a:ext cx="4297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8B5CF6"/>
                </a:solidFill>
              </a:defRPr>
            </a:pPr>
            <a:r>
              <a:t>• deep_research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Multi-agent deep exploration and reporting.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03520"/>
            <a:ext cx="4572000" cy="640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349240"/>
            <a:ext cx="4297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8B5CF6"/>
                </a:solidFill>
              </a:defRPr>
            </a:pPr>
            <a:r>
              <a:t>• math_animator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Translates concepts into dynamic Manim video renders.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B82F6"/>
                </a:solidFill>
              </a:defRPr>
            </a:pPr>
            <a:r>
              <a:t>On-Demand Level 1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2552" y="2377440"/>
            <a:ext cx="4572000" cy="5943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423160"/>
            <a:ext cx="4297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3B82F6"/>
                </a:solidFill>
              </a:defRPr>
            </a:pPr>
            <a:r>
              <a:t>• rag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Hyper-personalized knowledge base retrieval.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2552" y="3063240"/>
            <a:ext cx="4572000" cy="5943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3108960"/>
            <a:ext cx="4297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3B82F6"/>
                </a:solidFill>
              </a:defRPr>
            </a:pPr>
            <a:r>
              <a:t>• web_search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Live search with citations (duckduckgo).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2552" y="3749039"/>
            <a:ext cx="4572000" cy="5943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794759"/>
            <a:ext cx="4297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3B82F6"/>
                </a:solidFill>
              </a:defRPr>
            </a:pPr>
            <a:r>
              <a:t>• code_execution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Sandboxed Python execution for live practice.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2552" y="4434840"/>
            <a:ext cx="4572000" cy="5943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4480560"/>
            <a:ext cx="4297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3B82F6"/>
                </a:solidFill>
              </a:defRPr>
            </a:pPr>
            <a:r>
              <a:t>• reason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Dedicated deep-reasoning LLM logic paths.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02552" y="5120640"/>
            <a:ext cx="4572000" cy="5943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5166360"/>
            <a:ext cx="4297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3B82F6"/>
                </a:solidFill>
              </a:defRPr>
            </a:pPr>
            <a:r>
              <a:t>• arxiv_search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Academic paper search for deep academic dives.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2552" y="5806440"/>
            <a:ext cx="4572000" cy="5943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5852160"/>
            <a:ext cx="4297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300">
                <a:solidFill>
                  <a:srgbClr val="3B82F6"/>
                </a:solidFill>
              </a:defRPr>
            </a:pPr>
            <a:r>
              <a:t>• brainstorm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Breadth-first idea exploration with rationales.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THE LEARNING WORKSPACE</a:t>
            </a:r>
          </a:p>
          <a:p>
            <a:pPr>
              <a:defRPr sz="1800">
                <a:solidFill>
                  <a:srgbClr val="A0A0B0"/>
                </a:solidFill>
              </a:defRPr>
            </a:pPr>
            <a:r>
              <a:t>10 specialized tools catering to visual, auditory, and active learning styles.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2286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74520"/>
            <a:ext cx="52120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Visual &amp; Audio Mastery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Whiteboard: Infinite digital canvas for interactive GeoGebra curves.</a:t>
            </a:r>
            <a:br/>
            <a:r>
              <a:t>• Mindmap: Parses documents into interactive semantic node graphs.</a:t>
            </a:r>
            <a:br/>
            <a:r>
              <a:t>• Slide Deck: Instantly compiles study material into structured slides.</a:t>
            </a:r>
            <a:br/>
            <a:r>
              <a:t>• Podcast: Converts text/notes to a script for a 2-person audio discussion.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828800"/>
            <a:ext cx="5486400" cy="2286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874520"/>
            <a:ext cx="52120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Productivity &amp; Focus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Study Planner: Adaptive organizer aligning with personal energy levels.</a:t>
            </a:r>
            <a:br/>
            <a:r>
              <a:t>• Focus Mode: Distraction-free space blocking cognitive overload.</a:t>
            </a:r>
            <a:br/>
            <a:r>
              <a:t>• Co-Writer: Cooperative drafting tool for overcoming blank-page anxiety.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11274552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434840"/>
            <a:ext cx="11000232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Active Recall &amp; Exam Preparation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Guided Learning: Socratic curriculum paths rendered as rich interactive HTML pages.</a:t>
            </a:r>
            <a:br/>
            <a:r>
              <a:t>• Flash Cards: Spaced-repetition card decks generated directly from notes.</a:t>
            </a:r>
            <a:br/>
            <a:r>
              <a:t>• Exam Simulator: Dynamic mock exams with automated grading and diagnostics.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COGNITIVE IMPACT &amp; ENGAGEMENT</a:t>
            </a:r>
          </a:p>
          <a:p>
            <a:pPr>
              <a:defRPr sz="1800">
                <a:solidFill>
                  <a:srgbClr val="A0A0B0"/>
                </a:solidFill>
              </a:defRPr>
            </a:pPr>
            <a:r>
              <a:t>Measurable benefits for neurodivergent learners.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6400">
                <a:solidFill>
                  <a:srgbClr val="8B5CF6"/>
                </a:solidFill>
              </a:defRPr>
            </a:pPr>
            <a:r>
              <a:t>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FFFFFF"/>
                </a:solidFill>
              </a:defRPr>
            </a:pPr>
            <a:r>
              <a:t>Unlimited access to patient, empathetic Socratic tutoring.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286000"/>
            <a:ext cx="256032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6400">
                <a:solidFill>
                  <a:srgbClr val="3B82F6"/>
                </a:solidFill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FFFFFF"/>
                </a:solidFill>
              </a:defRPr>
            </a:pPr>
            <a:r>
              <a:t>Spent on expensive, scheduling-restricted private tutors.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286000"/>
            <a:ext cx="256032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6400">
                <a:solidFill>
                  <a:srgbClr val="8B5CF6"/>
                </a:solidFill>
              </a:defRPr>
            </a:pPr>
            <a:r>
              <a:t>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FFFFFF"/>
                </a:solidFill>
              </a:defRPr>
            </a:pPr>
            <a:r>
              <a:t>Increase in comprehension and long-term active recall.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286000"/>
            <a:ext cx="246888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560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6400">
                <a:solidFill>
                  <a:srgbClr val="3B82F6"/>
                </a:solidFill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749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FFFFFF"/>
                </a:solidFill>
              </a:defRPr>
            </a:pPr>
            <a:r>
              <a:t>Learning autonomy tailored to personal pacing.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